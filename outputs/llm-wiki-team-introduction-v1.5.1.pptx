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0C78FA-5450-4886-BBF7-73A0C3B6918A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500" b="1">
                <a:solidFill>
                  <a:srgbClr val="2563EB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BE31266-DBB1-4097-88C1-26AAE536CBE2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9525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5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AI</a:t>
            </a:r>
            <a:r>
              <a:rPr lang="ko-KR" altLang="en-US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가</a:t>
            </a:r>
            <a:r>
              <a:rPr lang="ko-KR" altLang="en-US" sz="5400" b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 </a:t>
            </a:r>
            <a:r>
              <a:rPr lang="ko-KR" altLang="en-US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프로젝트를</a:t>
            </a:r>
            <a:endParaRPr lang="ko-KR" altLang="en-US" sz="5400" b="1">
              <a:solidFill>
                <a:srgbClr val="11111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  <a:cs typeface="에스코어 드림 5 Medium"/>
            </a:endParaRPr>
          </a:p>
          <a:p>
            <a:pPr algn="l">
              <a:defRPr sz="5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기억하게</a:t>
            </a:r>
            <a:r>
              <a:rPr lang="ko-KR" altLang="en-US" sz="5400" b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 </a:t>
            </a:r>
            <a:r>
              <a:rPr lang="ko-KR" altLang="en-US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만드는</a:t>
            </a:r>
            <a:r>
              <a:rPr lang="ko-KR" altLang="en-US" sz="5400" b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 </a:t>
            </a:r>
            <a:r>
              <a:rPr lang="ko-KR" altLang="en-US" sz="5400" b="1" err="1">
                <a:solidFill>
                  <a:srgbClr val="11111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방법</a:t>
            </a:r>
            <a:endParaRPr lang="ko-KR" altLang="en-US" sz="5400" b="1">
              <a:solidFill>
                <a:srgbClr val="11111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  <a:cs typeface="에스코어 드림 5 Medium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E17905-D451-4299-8435-D31F27329436}"/>
              </a:ext>
            </a:extLst>
          </p:cNvPr>
          <p:cNvSpPr>
            <a:spLocks noGrp="1"/>
          </p:cNvSpPr>
          <p:nvPr/>
        </p:nvSpPr>
        <p:spPr>
          <a:xfrm>
            <a:off x="400050" y="45529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250" b="0">
                <a:solidFill>
                  <a:srgbClr val="5F6368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프로젝트 지도 </a:t>
            </a:r>
            <a:r>
              <a:rPr lang="en-US" altLang="ko-KR" sz="2250" b="0">
                <a:solidFill>
                  <a:srgbClr val="5F6368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· </a:t>
            </a:r>
            <a:r>
              <a:rPr lang="ko-KR" altLang="en-US" sz="2250" b="0">
                <a:solidFill>
                  <a:srgbClr val="5F6368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팀의 기억 </a:t>
            </a:r>
            <a:r>
              <a:rPr lang="en-US" altLang="ko-KR" sz="2250" b="0">
                <a:solidFill>
                  <a:srgbClr val="5F6368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· </a:t>
            </a:r>
            <a:r>
              <a:rPr lang="ko-KR" altLang="en-US" sz="2250" b="0">
                <a:solidFill>
                  <a:srgbClr val="5F6368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안전한 자동화</a:t>
            </a:r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400050" y="5524500"/>
            <a:ext cx="1524000" cy="0"/>
          </a:xfrm>
          <a:prstGeom prst="straightConnector1">
            <a:avLst/>
          </a:prstGeom>
          <a:ln w="57150">
            <a:solidFill>
              <a:srgbClr val="2563EB"/>
            </a:solidFill>
            <a:prstDash val="solid"/>
          </a:ln>
        </p:spPr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4482BE-8109-4E3D-BCA9-C5890C94682D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8A8D9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/>
              </a:rPr>
              <a:t>팀 공유 프레젠테이션</a:t>
            </a:r>
          </a:p>
        </p:txBody>
      </p:sp>
    </p:spTree>
    <p:extLst>
      <p:ext uri="{BB962C8B-B14F-4D97-AF65-F5344CB8AC3E}">
        <p14:creationId xmlns:p14="http://schemas.microsoft.com/office/powerpoint/2010/main" val="1339986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1DE009F-B086-4CCB-B1EE-EE7DCF2DFD03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429219C-02F1-4788-9F6D-CC57FBEE5A58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설명서가 없으면 </a:t>
            </a:r>
            <a:r>
              <a:rPr lang="en-US" altLang="ko-KR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도 길을 잃습니다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1155F0-FB34-4337-9140-1AA138EC4117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B6F6EB-0A7B-44E3-9B2B-8352D6BA224F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4381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큰 레고 도시를 처음 본 사람처럼</a:t>
            </a:r>
            <a:r>
              <a:rPr lang="en-US" altLang="ko-KR"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,</a:t>
            </a:r>
          </a:p>
          <a:p>
            <a:pPr algn="l">
              <a:defRPr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도 코드만 보고 모든 연결을 다시 찾아야 합니다</a:t>
            </a:r>
            <a:r>
              <a:rPr lang="en-US" altLang="ko-KR" sz="21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BD0113-FE8C-4A3E-A129-EAF1D0EECAC3}"/>
              </a:ext>
            </a:extLst>
          </p:cNvPr>
          <p:cNvSpPr>
            <a:spLocks noGrp="1"/>
          </p:cNvSpPr>
          <p:nvPr/>
        </p:nvSpPr>
        <p:spPr>
          <a:xfrm>
            <a:off x="400050" y="3143250"/>
            <a:ext cx="44767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중요한 파일을 처음부터 탐색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기능 사이의 연결을 추측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팀 규칙과 과거 결정을 놓칠 위험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다음 작업에서도 같은 조사 반복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575F645-96C1-4FF2-AA17-BCE8B6421954}"/>
              </a:ext>
            </a:extLst>
          </p:cNvPr>
          <p:cNvSpPr>
            <a:spLocks noGrp="1"/>
          </p:cNvSpPr>
          <p:nvPr/>
        </p:nvSpPr>
        <p:spPr>
          <a:xfrm>
            <a:off x="5219700" y="1619250"/>
            <a:ext cx="6572250" cy="4333875"/>
          </a:xfrm>
          <a:prstGeom prst="roundRect">
            <a:avLst>
              <a:gd name="adj" fmla="val 2637"/>
            </a:avLst>
          </a:prstGeom>
          <a:solidFill>
            <a:srgbClr val="EAF2FF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rcRect l="7326" r="7326"/>
          <a:stretch>
            <a:fillRect/>
          </a:stretch>
        </p:blipFill>
        <p:spPr>
          <a:xfrm>
            <a:off x="5219700" y="1619250"/>
            <a:ext cx="6572250" cy="4333875"/>
          </a:xfrm>
          <a:prstGeom prst="roundRect">
            <a:avLst>
              <a:gd name="adj" fmla="val 2637"/>
            </a:avLst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96B49C3-4B8D-4EC3-8A07-9E23DE0BC423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비유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: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프로젝트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=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레고 도시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, LLM-WIKI =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지도와 설명서</a:t>
            </a:r>
          </a:p>
        </p:txBody>
      </p:sp>
    </p:spTree>
    <p:extLst>
      <p:ext uri="{BB962C8B-B14F-4D97-AF65-F5344CB8AC3E}">
        <p14:creationId xmlns:p14="http://schemas.microsoft.com/office/powerpoint/2010/main" val="1000171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8B8AADA-F12D-4DB4-972F-6495951A2793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DD24AEE-0321-444B-A575-65254057BC48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</a:t>
            </a: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는 </a:t>
            </a:r>
            <a:r>
              <a:rPr lang="en-US" altLang="ko-KR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를 위한 프로젝트 안내 체계입니다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5592AE-2CB4-4E01-92D3-B662E940D8F6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486EB1-4C2D-4C5E-8500-337D5161E4E6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285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4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4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지도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E0A733-62A4-4B0E-8A27-9D76E2255128}"/>
              </a:ext>
            </a:extLst>
          </p:cNvPr>
          <p:cNvSpPr>
            <a:spLocks noGrp="1"/>
          </p:cNvSpPr>
          <p:nvPr/>
        </p:nvSpPr>
        <p:spPr>
          <a:xfrm>
            <a:off x="3714750" y="2190750"/>
            <a:ext cx="76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4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4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+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E32449E-7542-4069-9A1C-3BF9F6BF68BE}"/>
              </a:ext>
            </a:extLst>
          </p:cNvPr>
          <p:cNvSpPr>
            <a:spLocks noGrp="1"/>
          </p:cNvSpPr>
          <p:nvPr/>
        </p:nvSpPr>
        <p:spPr>
          <a:xfrm>
            <a:off x="4629150" y="2152650"/>
            <a:ext cx="285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43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43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기억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83C11C-CB2E-4C59-B2A4-E7BA431AD535}"/>
              </a:ext>
            </a:extLst>
          </p:cNvPr>
          <p:cNvSpPr>
            <a:spLocks noGrp="1"/>
          </p:cNvSpPr>
          <p:nvPr/>
        </p:nvSpPr>
        <p:spPr>
          <a:xfrm>
            <a:off x="7620000" y="2190750"/>
            <a:ext cx="76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4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4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+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B8179F2-F77C-491F-BEFF-07D742AA7B09}"/>
              </a:ext>
            </a:extLst>
          </p:cNvPr>
          <p:cNvSpPr>
            <a:spLocks noGrp="1"/>
          </p:cNvSpPr>
          <p:nvPr/>
        </p:nvSpPr>
        <p:spPr>
          <a:xfrm>
            <a:off x="8534400" y="2152650"/>
            <a:ext cx="285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4350" b="1">
                <a:solidFill>
                  <a:srgbClr val="F4B400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4350" b="1">
                <a:solidFill>
                  <a:srgbClr val="F4B400"/>
                </a:solidFill>
                <a:latin typeface="에스코어 드림 5 Medium"/>
                <a:ea typeface="에스코어 드림 5 Medium"/>
                <a:cs typeface="에스코어 드림 5 Medium"/>
              </a:rPr>
              <a:t>안전수칙</a:t>
            </a:r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723900" y="3314700"/>
            <a:ext cx="10668000" cy="0"/>
          </a:xfrm>
          <a:prstGeom prst="straightConnector1">
            <a:avLst/>
          </a:prstGeom>
          <a:ln w="19050">
            <a:solidFill>
              <a:srgbClr val="DADCE0"/>
            </a:solidFill>
            <a:prstDash val="solid"/>
          </a:ln>
        </p:spPr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D17D060-3F0D-4502-A252-43A478BD4FCA}"/>
              </a:ext>
            </a:extLst>
          </p:cNvPr>
          <p:cNvSpPr>
            <a:spLocks noGrp="1"/>
          </p:cNvSpPr>
          <p:nvPr/>
        </p:nvSpPr>
        <p:spPr>
          <a:xfrm>
            <a:off x="723900" y="36385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어디서 시작할지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571902-22E3-428B-ADF3-12EDAAE2CBCD}"/>
              </a:ext>
            </a:extLst>
          </p:cNvPr>
          <p:cNvSpPr>
            <a:spLocks noGrp="1"/>
          </p:cNvSpPr>
          <p:nvPr/>
        </p:nvSpPr>
        <p:spPr>
          <a:xfrm>
            <a:off x="4629150" y="36385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무엇을 알고 있는지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1CEB50-35E8-4210-91D6-5E6BE4E8312D}"/>
              </a:ext>
            </a:extLst>
          </p:cNvPr>
          <p:cNvSpPr>
            <a:spLocks noGrp="1"/>
          </p:cNvSpPr>
          <p:nvPr/>
        </p:nvSpPr>
        <p:spPr>
          <a:xfrm>
            <a:off x="8534400" y="36385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어떻게 안전하게 바꿀지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52C03B-4197-416D-B8F9-A5F7CEFD025E}"/>
              </a:ext>
            </a:extLst>
          </p:cNvPr>
          <p:cNvSpPr>
            <a:spLocks noGrp="1"/>
          </p:cNvSpPr>
          <p:nvPr/>
        </p:nvSpPr>
        <p:spPr>
          <a:xfrm>
            <a:off x="2095500" y="4933950"/>
            <a:ext cx="800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250" b="1">
                <a:solidFill>
                  <a:srgbClr val="202124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2250" b="1">
                <a:solidFill>
                  <a:srgbClr val="202124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2250" b="1">
                <a:solidFill>
                  <a:srgbClr val="202124"/>
                </a:solidFill>
                <a:latin typeface="에스코어 드림 5 Medium"/>
                <a:ea typeface="에스코어 드림 5 Medium"/>
                <a:cs typeface="에스코어 드림 5 Medium"/>
              </a:rPr>
              <a:t>가 매번 프로젝트를 처음 보는 문제를 줄여 줍니다</a:t>
            </a:r>
            <a:r>
              <a:rPr lang="en-US" altLang="ko-KR" sz="2250" b="1">
                <a:solidFill>
                  <a:srgbClr val="202124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CDA6C7-95DE-44AB-BB5B-3CE3D9AEF893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153192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105007-E8BB-424B-903C-B5E283BA5E66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63CDC97-A2F3-4D4D-AD6B-130F23418917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반복 탐색이 ‘필요한 근거 확인’으로 바뀝니다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4233AC-25E2-434B-A4EE-B2BA2D52ED94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FD0F902-3867-4FBD-A542-448AE9092107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같은 요청을 받아도 출발점이 다릅니다</a:t>
            </a: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E581501-56D5-421D-AF69-BC5C57DAB7C4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5353050" cy="3143250"/>
          </a:xfrm>
          <a:prstGeom prst="roundRect">
            <a:avLst>
              <a:gd name="adj" fmla="val 3636"/>
            </a:avLst>
          </a:prstGeom>
          <a:solidFill>
            <a:srgbClr val="FDEDEC"/>
          </a:solidFill>
          <a:ln w="9525">
            <a:solidFill>
              <a:srgbClr val="F2C7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03A8BC-D738-43B4-A3E2-80E2E1B2EC10}"/>
              </a:ext>
            </a:extLst>
          </p:cNvPr>
          <p:cNvSpPr>
            <a:spLocks noGrp="1"/>
          </p:cNvSpPr>
          <p:nvPr/>
        </p:nvSpPr>
        <p:spPr>
          <a:xfrm>
            <a:off x="666750" y="2438400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C2413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2250" b="1">
                <a:solidFill>
                  <a:srgbClr val="C2413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</a:t>
            </a:r>
            <a:r>
              <a:rPr lang="ko-KR" altLang="en-US" sz="2250" b="1">
                <a:solidFill>
                  <a:srgbClr val="C2413B"/>
                </a:solidFill>
                <a:latin typeface="에스코어 드림 5 Medium"/>
                <a:ea typeface="에스코어 드림 5 Medium"/>
                <a:cs typeface="에스코어 드림 5 Medium"/>
              </a:rPr>
              <a:t>없이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B4DFBD-A928-493C-B856-58E84D90D4B8}"/>
              </a:ext>
            </a:extLst>
          </p:cNvPr>
          <p:cNvSpPr>
            <a:spLocks noGrp="1"/>
          </p:cNvSpPr>
          <p:nvPr/>
        </p:nvSpPr>
        <p:spPr>
          <a:xfrm>
            <a:off x="666750" y="2990850"/>
            <a:ext cx="481965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1.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프로젝트 전체를 탐색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2.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구조와 규칙을 다시 추측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3.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관련 파일과 테스트를 찾음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4.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작업이 끝났는지 스스로 판단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2E862A5-8EB6-49A6-AD5E-4B18C5A3BFE9}"/>
              </a:ext>
            </a:extLst>
          </p:cNvPr>
          <p:cNvSpPr>
            <a:spLocks noGrp="1"/>
          </p:cNvSpPr>
          <p:nvPr/>
        </p:nvSpPr>
        <p:spPr>
          <a:xfrm>
            <a:off x="6038850" y="2190750"/>
            <a:ext cx="5753100" cy="3143250"/>
          </a:xfrm>
          <a:prstGeom prst="roundRect">
            <a:avLst>
              <a:gd name="adj" fmla="val 3636"/>
            </a:avLst>
          </a:prstGeom>
          <a:solidFill>
            <a:srgbClr val="EAF2FF"/>
          </a:solidFill>
          <a:ln w="9525">
            <a:solidFill>
              <a:srgbClr val="BFD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1820A2-DBE1-44B6-A276-EF4D1ED04919}"/>
              </a:ext>
            </a:extLst>
          </p:cNvPr>
          <p:cNvSpPr>
            <a:spLocks noGrp="1"/>
          </p:cNvSpPr>
          <p:nvPr/>
        </p:nvSpPr>
        <p:spPr>
          <a:xfrm>
            <a:off x="6305550" y="2438400"/>
            <a:ext cx="5257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22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</a:t>
            </a:r>
            <a:r>
              <a:rPr lang="ko-KR" altLang="en-US" sz="22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와 함께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DACD86-602C-47A0-848E-B8B47FB8DB5F}"/>
              </a:ext>
            </a:extLst>
          </p:cNvPr>
          <p:cNvSpPr>
            <a:spLocks noGrp="1"/>
          </p:cNvSpPr>
          <p:nvPr/>
        </p:nvSpPr>
        <p:spPr>
          <a:xfrm>
            <a:off x="6305550" y="2990850"/>
            <a:ext cx="521970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1. index.md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에서 시작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2.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관련 문서와 근거 파일 확인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3.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코드와 테스트를 수정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4. 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관련 위키와 변경 기록도 갱신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34BBCD-DFA5-422A-BD59-AE05AE853586}"/>
              </a:ext>
            </a:extLst>
          </p:cNvPr>
          <p:cNvSpPr>
            <a:spLocks noGrp="1"/>
          </p:cNvSpPr>
          <p:nvPr/>
        </p:nvSpPr>
        <p:spPr>
          <a:xfrm>
            <a:off x="400050" y="563880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핵심</a:t>
            </a: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: AI</a:t>
            </a: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의 탐색 비용과 규칙 누락 가능성을 함께 줄입니다</a:t>
            </a: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01B2281-5BB2-4DA8-8DC4-9B34FE717ED5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69731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53B1008-7FA9-4718-9C94-71495E4E4B72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28982A-0A02-4048-B64F-B16351E9C5B5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문서 만들기에서 ‘지식 운영 시스템’으로 성장했습니다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06F120-9847-4846-BA03-1055214C9FE0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05</a:t>
            </a:r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1123950" y="3333750"/>
            <a:ext cx="9620250" cy="0"/>
          </a:xfrm>
          <a:prstGeom prst="straightConnector1">
            <a:avLst/>
          </a:prstGeom>
          <a:ln w="28575">
            <a:solidFill>
              <a:srgbClr val="DADCE0"/>
            </a:solidFill>
            <a:prstDash val="solid"/>
          </a:ln>
        </p:spPr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1C88CC4B-6516-4FC0-BCC5-BF0B973E1480}"/>
              </a:ext>
            </a:extLst>
          </p:cNvPr>
          <p:cNvSpPr>
            <a:spLocks noGrp="1"/>
          </p:cNvSpPr>
          <p:nvPr/>
        </p:nvSpPr>
        <p:spPr>
          <a:xfrm>
            <a:off x="1314450" y="3143250"/>
            <a:ext cx="381000" cy="381000"/>
          </a:xfrm>
          <a:prstGeom prst="ellips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42161A5-9393-4C7D-9FF3-254BA804C60D}"/>
              </a:ext>
            </a:extLst>
          </p:cNvPr>
          <p:cNvSpPr>
            <a:spLocks noGrp="1"/>
          </p:cNvSpPr>
          <p:nvPr/>
        </p:nvSpPr>
        <p:spPr>
          <a:xfrm>
            <a:off x="1219200" y="27051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1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시작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3255AF-6EEC-47EC-8BA3-E9E4076AAD07}"/>
              </a:ext>
            </a:extLst>
          </p:cNvPr>
          <p:cNvSpPr>
            <a:spLocks noGrp="1"/>
          </p:cNvSpPr>
          <p:nvPr/>
        </p:nvSpPr>
        <p:spPr>
          <a:xfrm>
            <a:off x="1219200" y="384810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가 읽는 문서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FA2A97-7FF2-444C-9656-26722FC591C5}"/>
              </a:ext>
            </a:extLst>
          </p:cNvPr>
          <p:cNvSpPr>
            <a:spLocks noGrp="1"/>
          </p:cNvSpPr>
          <p:nvPr/>
        </p:nvSpPr>
        <p:spPr>
          <a:xfrm>
            <a:off x="1219200" y="4591050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인수인계와 기능 변경에 필요한 프로젝트 지식을 기록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FE18F71-B778-4632-89D4-06F0A27E62D5}"/>
              </a:ext>
            </a:extLst>
          </p:cNvPr>
          <p:cNvSpPr>
            <a:spLocks noGrp="1"/>
          </p:cNvSpPr>
          <p:nvPr/>
        </p:nvSpPr>
        <p:spPr>
          <a:xfrm>
            <a:off x="5000625" y="3143250"/>
            <a:ext cx="381000" cy="381000"/>
          </a:xfrm>
          <a:prstGeom prst="ellips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0595CA6-2595-473F-A26E-83C54C4BA184}"/>
              </a:ext>
            </a:extLst>
          </p:cNvPr>
          <p:cNvSpPr>
            <a:spLocks noGrp="1"/>
          </p:cNvSpPr>
          <p:nvPr/>
        </p:nvSpPr>
        <p:spPr>
          <a:xfrm>
            <a:off x="4905375" y="27051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1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확장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98A838-4A64-4751-AAC5-D5928AF5C835}"/>
              </a:ext>
            </a:extLst>
          </p:cNvPr>
          <p:cNvSpPr>
            <a:spLocks noGrp="1"/>
          </p:cNvSpPr>
          <p:nvPr/>
        </p:nvSpPr>
        <p:spPr>
          <a:xfrm>
            <a:off x="4905375" y="384810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공통 규칙과 연결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76447B-023A-44D5-A5E8-135B2305A13C}"/>
              </a:ext>
            </a:extLst>
          </p:cNvPr>
          <p:cNvSpPr>
            <a:spLocks noGrp="1"/>
          </p:cNvSpPr>
          <p:nvPr/>
        </p:nvSpPr>
        <p:spPr>
          <a:xfrm>
            <a:off x="4905375" y="4591050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여러 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Agent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가 같은 진입점과 문서 계약을 사용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218C0FA-5505-4C06-82C0-FBACFB8C67BC}"/>
              </a:ext>
            </a:extLst>
          </p:cNvPr>
          <p:cNvSpPr>
            <a:spLocks noGrp="1"/>
          </p:cNvSpPr>
          <p:nvPr/>
        </p:nvSpPr>
        <p:spPr>
          <a:xfrm>
            <a:off x="8686800" y="3143250"/>
            <a:ext cx="381000" cy="38100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EBC4850-7E4C-4B37-B013-AB7C087B0BFC}"/>
              </a:ext>
            </a:extLst>
          </p:cNvPr>
          <p:cNvSpPr>
            <a:spLocks noGrp="1"/>
          </p:cNvSpPr>
          <p:nvPr/>
        </p:nvSpPr>
        <p:spPr>
          <a:xfrm>
            <a:off x="8591550" y="27051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현재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7B2637-8BD0-4DE6-BF27-514AC77BFB29}"/>
              </a:ext>
            </a:extLst>
          </p:cNvPr>
          <p:cNvSpPr>
            <a:spLocks noGrp="1"/>
          </p:cNvSpPr>
          <p:nvPr/>
        </p:nvSpPr>
        <p:spPr>
          <a:xfrm>
            <a:off x="8591550" y="384810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생성</a:t>
            </a:r>
            <a:r>
              <a:rPr lang="en-US" altLang="ko-KR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검증</a:t>
            </a:r>
            <a:r>
              <a:rPr lang="en-US" altLang="ko-KR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유지보수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0FE254-2D14-4DB8-8EA8-9699F346BBCD}"/>
              </a:ext>
            </a:extLst>
          </p:cNvPr>
          <p:cNvSpPr>
            <a:spLocks noGrp="1"/>
          </p:cNvSpPr>
          <p:nvPr/>
        </p:nvSpPr>
        <p:spPr>
          <a:xfrm>
            <a:off x="8591550" y="4591050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문서 생성·검증, 지식 그래프·헬스 스코어, 안전한 수정·마이그레이션, 프로그래매틱 API, CI 지원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5C5B09-4C0F-449A-A4CF-0165EFE2BC5C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914669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9E0AE2-C777-49D1-AB9E-16D7020EEF1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C07ABB-81C7-4C39-9810-B568F354D85F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현재 프로젝트는 네 가지 일을 함께 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CF28AE1-AEA2-472F-B76D-12BD1C66CA79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06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2C7B886-80DC-4E1D-A475-E7A8E3466845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5381625" cy="1809750"/>
          </a:xfrm>
          <a:prstGeom prst="roundRect">
            <a:avLst>
              <a:gd name="adj" fmla="val 6316"/>
            </a:avLst>
          </a:prstGeom>
          <a:solidFill>
            <a:srgbClr val="EAF2FF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F9DB87D-F54C-4983-B753-79219F2E8A84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400050" cy="4000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1987F6-CB23-4B15-8EC1-E70CB1D33C81}"/>
              </a:ext>
            </a:extLst>
          </p:cNvPr>
          <p:cNvSpPr>
            <a:spLocks noGrp="1"/>
          </p:cNvSpPr>
          <p:nvPr/>
        </p:nvSpPr>
        <p:spPr>
          <a:xfrm>
            <a:off x="628650" y="2124996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350" b="1" dirty="0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19BFC8-A0E3-410E-A8CE-02664629E9AD}"/>
              </a:ext>
            </a:extLst>
          </p:cNvPr>
          <p:cNvSpPr>
            <a:spLocks noGrp="1"/>
          </p:cNvSpPr>
          <p:nvPr/>
        </p:nvSpPr>
        <p:spPr>
          <a:xfrm>
            <a:off x="1181100" y="2057400"/>
            <a:ext cx="4371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문서를 만든다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E359CA-32B4-476D-AFCE-5E449B77A1C7}"/>
              </a:ext>
            </a:extLst>
          </p:cNvPr>
          <p:cNvSpPr>
            <a:spLocks noGrp="1"/>
          </p:cNvSpPr>
          <p:nvPr/>
        </p:nvSpPr>
        <p:spPr>
          <a:xfrm>
            <a:off x="666750" y="2609850"/>
            <a:ext cx="48482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프로젝트 유형에 맞는 위키 구조와 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Agent 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진입점을 준비합니다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1614799-4D4E-48E7-A97A-7C16296955D6}"/>
              </a:ext>
            </a:extLst>
          </p:cNvPr>
          <p:cNvSpPr>
            <a:spLocks noGrp="1"/>
          </p:cNvSpPr>
          <p:nvPr/>
        </p:nvSpPr>
        <p:spPr>
          <a:xfrm>
            <a:off x="6029325" y="1809750"/>
            <a:ext cx="5762625" cy="1809750"/>
          </a:xfrm>
          <a:prstGeom prst="roundRect">
            <a:avLst>
              <a:gd name="adj" fmla="val 6316"/>
            </a:avLst>
          </a:prstGeom>
          <a:solidFill>
            <a:srgbClr val="FFF6D8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7AA0C89-8E9D-42EB-8A20-DBB207EA074D}"/>
              </a:ext>
            </a:extLst>
          </p:cNvPr>
          <p:cNvSpPr>
            <a:spLocks noGrp="1"/>
          </p:cNvSpPr>
          <p:nvPr/>
        </p:nvSpPr>
        <p:spPr>
          <a:xfrm>
            <a:off x="6257925" y="2038350"/>
            <a:ext cx="400050" cy="400050"/>
          </a:xfrm>
          <a:prstGeom prst="ellipse">
            <a:avLst/>
          </a:prstGeom>
          <a:solidFill>
            <a:srgbClr val="F4B400"/>
          </a:solidFill>
          <a:ln w="9525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3A23B2-5D59-48FF-9043-4ACF43AAF06E}"/>
              </a:ext>
            </a:extLst>
          </p:cNvPr>
          <p:cNvSpPr>
            <a:spLocks noGrp="1"/>
          </p:cNvSpPr>
          <p:nvPr/>
        </p:nvSpPr>
        <p:spPr>
          <a:xfrm>
            <a:off x="6257925" y="2124996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97795E-B614-4458-A788-37381CBAF253}"/>
              </a:ext>
            </a:extLst>
          </p:cNvPr>
          <p:cNvSpPr>
            <a:spLocks noGrp="1"/>
          </p:cNvSpPr>
          <p:nvPr/>
        </p:nvSpPr>
        <p:spPr>
          <a:xfrm>
            <a:off x="6810375" y="2057400"/>
            <a:ext cx="4752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근거를 연결한다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4BA121-B29B-48CA-8282-6D1DAD5B0502}"/>
              </a:ext>
            </a:extLst>
          </p:cNvPr>
          <p:cNvSpPr>
            <a:spLocks noGrp="1"/>
          </p:cNvSpPr>
          <p:nvPr/>
        </p:nvSpPr>
        <p:spPr>
          <a:xfrm>
            <a:off x="6296025" y="2609850"/>
            <a:ext cx="52292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설명과 실제 파일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함수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섹션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경로를 연결해 확인 가능하게 합니다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92D8475-E2E8-481A-891E-9198E8A56A8F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5381625" cy="1809750"/>
          </a:xfrm>
          <a:prstGeom prst="roundRect">
            <a:avLst>
              <a:gd name="adj" fmla="val 6316"/>
            </a:avLst>
          </a:prstGeom>
          <a:solidFill>
            <a:srgbClr val="E9F7EF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424C2E3-67F8-47EC-AD1C-4341AFC5E826}"/>
              </a:ext>
            </a:extLst>
          </p:cNvPr>
          <p:cNvSpPr>
            <a:spLocks noGrp="1"/>
          </p:cNvSpPr>
          <p:nvPr/>
        </p:nvSpPr>
        <p:spPr>
          <a:xfrm>
            <a:off x="628650" y="413385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E8DCF09-0C7D-4810-8807-A443C5CDA14A}"/>
              </a:ext>
            </a:extLst>
          </p:cNvPr>
          <p:cNvSpPr>
            <a:spLocks noGrp="1"/>
          </p:cNvSpPr>
          <p:nvPr/>
        </p:nvSpPr>
        <p:spPr>
          <a:xfrm>
            <a:off x="628650" y="4220496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350" b="1" dirty="0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22DAC69-E07A-4F32-B184-911ED041453D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4371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문서를 검사한다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054F073-E879-4544-97D2-977591E71005}"/>
              </a:ext>
            </a:extLst>
          </p:cNvPr>
          <p:cNvSpPr>
            <a:spLocks noGrp="1"/>
          </p:cNvSpPr>
          <p:nvPr/>
        </p:nvSpPr>
        <p:spPr>
          <a:xfrm>
            <a:off x="666750" y="4705350"/>
            <a:ext cx="48482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누락된 문서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깨진 링크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오래된 근거와 민감정보 위험을 찾습니다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DE3A57F-1A6A-495E-BCBF-AAD306CB1A89}"/>
              </a:ext>
            </a:extLst>
          </p:cNvPr>
          <p:cNvSpPr>
            <a:spLocks noGrp="1"/>
          </p:cNvSpPr>
          <p:nvPr/>
        </p:nvSpPr>
        <p:spPr>
          <a:xfrm>
            <a:off x="6029325" y="3905250"/>
            <a:ext cx="5762625" cy="1809750"/>
          </a:xfrm>
          <a:prstGeom prst="roundRect">
            <a:avLst>
              <a:gd name="adj" fmla="val 6316"/>
            </a:avLst>
          </a:prstGeom>
          <a:solidFill>
            <a:srgbClr val="F3F4F6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EA1DF27-4216-44E7-BB7B-F067A1A20C8F}"/>
              </a:ext>
            </a:extLst>
          </p:cNvPr>
          <p:cNvSpPr>
            <a:spLocks noGrp="1"/>
          </p:cNvSpPr>
          <p:nvPr/>
        </p:nvSpPr>
        <p:spPr>
          <a:xfrm>
            <a:off x="6257925" y="4133850"/>
            <a:ext cx="400050" cy="40005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B73B54-003F-467B-BBD6-3C70A68E28AF}"/>
              </a:ext>
            </a:extLst>
          </p:cNvPr>
          <p:cNvSpPr>
            <a:spLocks noGrp="1"/>
          </p:cNvSpPr>
          <p:nvPr/>
        </p:nvSpPr>
        <p:spPr>
          <a:xfrm>
            <a:off x="6257925" y="4220496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3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D3ADBD-5A73-4421-855E-A3D9E7A302E7}"/>
              </a:ext>
            </a:extLst>
          </p:cNvPr>
          <p:cNvSpPr>
            <a:spLocks noGrp="1"/>
          </p:cNvSpPr>
          <p:nvPr/>
        </p:nvSpPr>
        <p:spPr>
          <a:xfrm>
            <a:off x="6810375" y="4152900"/>
            <a:ext cx="4752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지식을 유지한다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A8A5EB2-6C40-47F4-83DD-FD8B6800764C}"/>
              </a:ext>
            </a:extLst>
          </p:cNvPr>
          <p:cNvSpPr>
            <a:spLocks noGrp="1"/>
          </p:cNvSpPr>
          <p:nvPr/>
        </p:nvSpPr>
        <p:spPr>
          <a:xfrm>
            <a:off x="6296025" y="4705350"/>
            <a:ext cx="52292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작업 후 관련 위키와 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append-only </a:t>
            </a:r>
            <a:r>
              <a:rPr lang="ko-KR" altLang="en-US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변경 로그를 함께 갱신합니다</a:t>
            </a:r>
            <a:r>
              <a:rPr lang="en-US" altLang="ko-KR" sz="142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AEBC7EC-E6A1-4C09-9D3B-7824BA892540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123253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4CCDAAA-9F80-4A71-A958-95C466EA103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6DC131-41FB-48E1-81C4-BF3A8FC4FD39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기능 수정은 다섯 단계의 반복 가능한 흐름이 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09C78F-0CC4-43A4-A726-A930F6819927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07</a:t>
            </a:r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1123950" y="3181350"/>
            <a:ext cx="9525000" cy="0"/>
          </a:xfrm>
          <a:prstGeom prst="straightConnector1">
            <a:avLst/>
          </a:prstGeom>
          <a:ln w="38100">
            <a:solidFill>
              <a:srgbClr val="DADCE0"/>
            </a:solidFill>
            <a:prstDash val="solid"/>
          </a:ln>
        </p:spPr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45AD7C50-C502-4324-A881-412202205AAE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762000" cy="76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5225B07-3875-442C-A1B4-CBB96CA7681C}"/>
              </a:ext>
            </a:extLst>
          </p:cNvPr>
          <p:cNvSpPr>
            <a:spLocks noGrp="1"/>
          </p:cNvSpPr>
          <p:nvPr/>
        </p:nvSpPr>
        <p:spPr>
          <a:xfrm>
            <a:off x="876300" y="3044190"/>
            <a:ext cx="762000" cy="3148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800" b="1" dirty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6D8904F-AE24-40AD-87A0-9B064B31C3D5}"/>
              </a:ext>
            </a:extLst>
          </p:cNvPr>
          <p:cNvSpPr>
            <a:spLocks noGrp="1"/>
          </p:cNvSpPr>
          <p:nvPr/>
        </p:nvSpPr>
        <p:spPr>
          <a:xfrm>
            <a:off x="552450" y="38100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요청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B6E0FC-B6F4-4F8E-B3BC-40CED1BEA630}"/>
              </a:ext>
            </a:extLst>
          </p:cNvPr>
          <p:cNvSpPr>
            <a:spLocks noGrp="1"/>
          </p:cNvSpPr>
          <p:nvPr/>
        </p:nvSpPr>
        <p:spPr>
          <a:xfrm>
            <a:off x="400050" y="43624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무엇을 바꿀지</a:t>
            </a:r>
          </a:p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정합니다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4ADCC68-5A71-4455-ABA2-38316231DE4A}"/>
              </a:ext>
            </a:extLst>
          </p:cNvPr>
          <p:cNvSpPr>
            <a:spLocks noGrp="1"/>
          </p:cNvSpPr>
          <p:nvPr/>
        </p:nvSpPr>
        <p:spPr>
          <a:xfrm>
            <a:off x="3162300" y="2800350"/>
            <a:ext cx="762000" cy="76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8FE4DE-B52E-453E-8BA9-494C78FA5394}"/>
              </a:ext>
            </a:extLst>
          </p:cNvPr>
          <p:cNvSpPr>
            <a:spLocks noGrp="1"/>
          </p:cNvSpPr>
          <p:nvPr/>
        </p:nvSpPr>
        <p:spPr>
          <a:xfrm>
            <a:off x="3162300" y="3044190"/>
            <a:ext cx="762000" cy="3148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217842F-9738-4AE2-9836-65C23D2B3767}"/>
              </a:ext>
            </a:extLst>
          </p:cNvPr>
          <p:cNvSpPr>
            <a:spLocks noGrp="1"/>
          </p:cNvSpPr>
          <p:nvPr/>
        </p:nvSpPr>
        <p:spPr>
          <a:xfrm>
            <a:off x="2838450" y="38100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index </a:t>
            </a: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B47A12-F214-4DBD-A368-766F99828DAD}"/>
              </a:ext>
            </a:extLst>
          </p:cNvPr>
          <p:cNvSpPr>
            <a:spLocks noGrp="1"/>
          </p:cNvSpPr>
          <p:nvPr/>
        </p:nvSpPr>
        <p:spPr>
          <a:xfrm>
            <a:off x="2686050" y="43624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공식 진입점에서</a:t>
            </a:r>
          </a:p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관련 문서를 찾습니다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C2615C7-2ADC-4436-9ED9-58BD7691CBFB}"/>
              </a:ext>
            </a:extLst>
          </p:cNvPr>
          <p:cNvSpPr>
            <a:spLocks noGrp="1"/>
          </p:cNvSpPr>
          <p:nvPr/>
        </p:nvSpPr>
        <p:spPr>
          <a:xfrm>
            <a:off x="5448300" y="2800350"/>
            <a:ext cx="762000" cy="76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D4F7C0-584F-4066-BB43-DBADC417782D}"/>
              </a:ext>
            </a:extLst>
          </p:cNvPr>
          <p:cNvSpPr>
            <a:spLocks noGrp="1"/>
          </p:cNvSpPr>
          <p:nvPr/>
        </p:nvSpPr>
        <p:spPr>
          <a:xfrm>
            <a:off x="5448300" y="3044190"/>
            <a:ext cx="762000" cy="3148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49AB49-6D07-4E35-891A-DAFC0101F6E2}"/>
              </a:ext>
            </a:extLst>
          </p:cNvPr>
          <p:cNvSpPr>
            <a:spLocks noGrp="1"/>
          </p:cNvSpPr>
          <p:nvPr/>
        </p:nvSpPr>
        <p:spPr>
          <a:xfrm>
            <a:off x="5124450" y="38100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근거 확인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5618A60-2BC0-4527-A5FC-89EA54B8E47C}"/>
              </a:ext>
            </a:extLst>
          </p:cNvPr>
          <p:cNvSpPr>
            <a:spLocks noGrp="1"/>
          </p:cNvSpPr>
          <p:nvPr/>
        </p:nvSpPr>
        <p:spPr>
          <a:xfrm>
            <a:off x="4972050" y="43624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문서와 실제</a:t>
            </a:r>
          </a:p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소스를 대조합니다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B66FFDD-CC4D-4645-B09E-31179C6A9A17}"/>
              </a:ext>
            </a:extLst>
          </p:cNvPr>
          <p:cNvSpPr>
            <a:spLocks noGrp="1"/>
          </p:cNvSpPr>
          <p:nvPr/>
        </p:nvSpPr>
        <p:spPr>
          <a:xfrm>
            <a:off x="7734300" y="2800350"/>
            <a:ext cx="762000" cy="76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6C6A377-8762-4F44-83F3-04A4ABCB5BD0}"/>
              </a:ext>
            </a:extLst>
          </p:cNvPr>
          <p:cNvSpPr>
            <a:spLocks noGrp="1"/>
          </p:cNvSpPr>
          <p:nvPr/>
        </p:nvSpPr>
        <p:spPr>
          <a:xfrm>
            <a:off x="7734300" y="3044190"/>
            <a:ext cx="762000" cy="3148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4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BD56BAA-0AE1-4FC2-8F6E-1FD3FA79A1DD}"/>
              </a:ext>
            </a:extLst>
          </p:cNvPr>
          <p:cNvSpPr>
            <a:spLocks noGrp="1"/>
          </p:cNvSpPr>
          <p:nvPr/>
        </p:nvSpPr>
        <p:spPr>
          <a:xfrm>
            <a:off x="7410450" y="38100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수정</a:t>
            </a:r>
            <a:r>
              <a:rPr lang="en-US" altLang="ko-KR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테스트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5FF45DA-3839-4A23-9761-0BBF61C01855}"/>
              </a:ext>
            </a:extLst>
          </p:cNvPr>
          <p:cNvSpPr>
            <a:spLocks noGrp="1"/>
          </p:cNvSpPr>
          <p:nvPr/>
        </p:nvSpPr>
        <p:spPr>
          <a:xfrm>
            <a:off x="7258050" y="43624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코드를 바꾸고</a:t>
            </a:r>
          </a:p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검증합니다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7DAB325-AC77-4F26-98EE-60279E7A03B1}"/>
              </a:ext>
            </a:extLst>
          </p:cNvPr>
          <p:cNvSpPr>
            <a:spLocks noGrp="1"/>
          </p:cNvSpPr>
          <p:nvPr/>
        </p:nvSpPr>
        <p:spPr>
          <a:xfrm>
            <a:off x="10020300" y="2800350"/>
            <a:ext cx="762000" cy="76200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2FB23DF-3FE7-4F15-B658-973CB6360278}"/>
              </a:ext>
            </a:extLst>
          </p:cNvPr>
          <p:cNvSpPr>
            <a:spLocks noGrp="1"/>
          </p:cNvSpPr>
          <p:nvPr/>
        </p:nvSpPr>
        <p:spPr>
          <a:xfrm>
            <a:off x="10020300" y="3044190"/>
            <a:ext cx="762000" cy="3148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8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5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5B283E8-30F2-4329-8750-8146B7D2C009}"/>
              </a:ext>
            </a:extLst>
          </p:cNvPr>
          <p:cNvSpPr>
            <a:spLocks noGrp="1"/>
          </p:cNvSpPr>
          <p:nvPr/>
        </p:nvSpPr>
        <p:spPr>
          <a:xfrm>
            <a:off x="9696450" y="381000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위키 갱신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B3E840C-86EC-4129-A7A6-133BB9120CCE}"/>
              </a:ext>
            </a:extLst>
          </p:cNvPr>
          <p:cNvSpPr>
            <a:spLocks noGrp="1"/>
          </p:cNvSpPr>
          <p:nvPr/>
        </p:nvSpPr>
        <p:spPr>
          <a:xfrm>
            <a:off x="9544050" y="43624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관련 문서와</a:t>
            </a:r>
          </a:p>
          <a:p>
            <a:pPr algn="ctr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log</a:t>
            </a: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를 남깁니다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C42B616-10C8-4A0A-B652-D6AF0C579884}"/>
              </a:ext>
            </a:extLst>
          </p:cNvPr>
          <p:cNvSpPr>
            <a:spLocks noGrp="1"/>
          </p:cNvSpPr>
          <p:nvPr/>
        </p:nvSpPr>
        <p:spPr>
          <a:xfrm>
            <a:off x="2209800" y="5543550"/>
            <a:ext cx="7772400" cy="514350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9525">
            <a:solidFill>
              <a:srgbClr val="BFD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8A60F74-8E6D-4E68-BF74-24BAB0870DB1}"/>
              </a:ext>
            </a:extLst>
          </p:cNvPr>
          <p:cNvSpPr>
            <a:spLocks noGrp="1"/>
          </p:cNvSpPr>
          <p:nvPr/>
        </p:nvSpPr>
        <p:spPr>
          <a:xfrm>
            <a:off x="2381250" y="5676900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예</a:t>
            </a:r>
            <a:r>
              <a:rPr lang="en-US" altLang="ko-KR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: </a:t>
            </a:r>
            <a:r>
              <a:rPr lang="ko-KR" altLang="en-US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회원가입 이메일 인증 추가 → 필요한 영역만 확인하고 코드</a:t>
            </a:r>
            <a:r>
              <a:rPr lang="en-US" altLang="ko-KR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테스트</a:t>
            </a:r>
            <a:r>
              <a:rPr lang="en-US" altLang="ko-KR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35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문서를 함께 변경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7AA792D-1DF4-469B-8F43-B55FAD1AAA0F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1997534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6D8BE59-7A4D-4771-B6F9-D50D290BB6E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8B6E313-D73C-4F92-98B3-073D8348CE8C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팀이 얻는 가치는 속도보다 ‘지속 가능한 이해’입니다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3221E0-235F-49AE-B366-71CBE8B13EA9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08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746B4B8-3EBE-4519-9585-EE1B2E1FBA50}"/>
              </a:ext>
            </a:extLst>
          </p:cNvPr>
          <p:cNvSpPr>
            <a:spLocks noGrp="1"/>
          </p:cNvSpPr>
          <p:nvPr/>
        </p:nvSpPr>
        <p:spPr>
          <a:xfrm>
            <a:off x="400050" y="2019300"/>
            <a:ext cx="3390900" cy="3238500"/>
          </a:xfrm>
          <a:prstGeom prst="roundRect">
            <a:avLst>
              <a:gd name="adj" fmla="val 3529"/>
            </a:avLst>
          </a:prstGeom>
          <a:solidFill>
            <a:srgbClr val="EAF2FF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0EB610F-7AE2-4E4C-A441-C3479AE83A90}"/>
              </a:ext>
            </a:extLst>
          </p:cNvPr>
          <p:cNvSpPr>
            <a:spLocks noGrp="1"/>
          </p:cNvSpPr>
          <p:nvPr/>
        </p:nvSpPr>
        <p:spPr>
          <a:xfrm>
            <a:off x="666750" y="2305050"/>
            <a:ext cx="8001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70D80B7-149C-4D64-9B5A-81F13A32369C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더 빠르게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B9BD58-CE0D-4A93-8202-10525D71CB3A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2857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가 매번 전체 코드를 다시 읽는 일을 줄이고 필요한 지식과 파일부터 확인합니다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D094AD8-34A2-4E64-86D3-22230FF0DD70}"/>
              </a:ext>
            </a:extLst>
          </p:cNvPr>
          <p:cNvSpPr>
            <a:spLocks noGrp="1"/>
          </p:cNvSpPr>
          <p:nvPr/>
        </p:nvSpPr>
        <p:spPr>
          <a:xfrm>
            <a:off x="4200525" y="2019300"/>
            <a:ext cx="3390900" cy="3238500"/>
          </a:xfrm>
          <a:prstGeom prst="roundRect">
            <a:avLst>
              <a:gd name="adj" fmla="val 3529"/>
            </a:avLst>
          </a:prstGeom>
          <a:solidFill>
            <a:srgbClr val="FFF6D8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CE7879F-CF1D-4709-87CD-BDB4B8C88FAF}"/>
              </a:ext>
            </a:extLst>
          </p:cNvPr>
          <p:cNvSpPr>
            <a:spLocks noGrp="1"/>
          </p:cNvSpPr>
          <p:nvPr/>
        </p:nvSpPr>
        <p:spPr>
          <a:xfrm>
            <a:off x="4467225" y="2305050"/>
            <a:ext cx="800100" cy="11430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 w="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424D73-74CA-4445-AA30-570C36411141}"/>
              </a:ext>
            </a:extLst>
          </p:cNvPr>
          <p:cNvSpPr>
            <a:spLocks noGrp="1"/>
          </p:cNvSpPr>
          <p:nvPr/>
        </p:nvSpPr>
        <p:spPr>
          <a:xfrm>
            <a:off x="4467225" y="27241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더 일관되게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BBE0A4-1C8D-40F3-B6F8-42B4B63F930A}"/>
              </a:ext>
            </a:extLst>
          </p:cNvPr>
          <p:cNvSpPr>
            <a:spLocks noGrp="1"/>
          </p:cNvSpPr>
          <p:nvPr/>
        </p:nvSpPr>
        <p:spPr>
          <a:xfrm>
            <a:off x="4467225" y="3524250"/>
            <a:ext cx="2857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Codex, Claude Code, Cursor, Copilot, Windsurf, Gemini가 같은 진입점과 같은 규칙을 따릅니다.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43A2632-008E-4617-8A57-50D8E25243AF}"/>
              </a:ext>
            </a:extLst>
          </p:cNvPr>
          <p:cNvSpPr>
            <a:spLocks noGrp="1"/>
          </p:cNvSpPr>
          <p:nvPr/>
        </p:nvSpPr>
        <p:spPr>
          <a:xfrm>
            <a:off x="8001000" y="2019300"/>
            <a:ext cx="3390900" cy="3238500"/>
          </a:xfrm>
          <a:prstGeom prst="roundRect">
            <a:avLst>
              <a:gd name="adj" fmla="val 3529"/>
            </a:avLst>
          </a:prstGeom>
          <a:solidFill>
            <a:srgbClr val="E9F7EF"/>
          </a:solidFill>
          <a:ln w="9525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8E402E1-82E7-42B3-A3E4-83148FD532A6}"/>
              </a:ext>
            </a:extLst>
          </p:cNvPr>
          <p:cNvSpPr>
            <a:spLocks noGrp="1"/>
          </p:cNvSpPr>
          <p:nvPr/>
        </p:nvSpPr>
        <p:spPr>
          <a:xfrm>
            <a:off x="8267700" y="2305050"/>
            <a:ext cx="800100" cy="114300"/>
          </a:xfrm>
          <a:prstGeom prst="roundRect">
            <a:avLst>
              <a:gd name="adj" fmla="val 50000"/>
            </a:avLst>
          </a:prstGeom>
          <a:solidFill>
            <a:srgbClr val="198754"/>
          </a:solidFill>
          <a:ln w="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AB5AA0-6F47-43F5-9822-A7B8ADCEB7FE}"/>
              </a:ext>
            </a:extLst>
          </p:cNvPr>
          <p:cNvSpPr>
            <a:spLocks noGrp="1"/>
          </p:cNvSpPr>
          <p:nvPr/>
        </p:nvSpPr>
        <p:spPr>
          <a:xfrm>
            <a:off x="8267700" y="27241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40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더 쉽게 이어받기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E86EB0-2621-48B9-9315-904C5E9DCF6C}"/>
              </a:ext>
            </a:extLst>
          </p:cNvPr>
          <p:cNvSpPr>
            <a:spLocks noGrp="1"/>
          </p:cNvSpPr>
          <p:nvPr/>
        </p:nvSpPr>
        <p:spPr>
          <a:xfrm>
            <a:off x="8267700" y="3524250"/>
            <a:ext cx="2857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담당자가 바뀌어도 구조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결정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근거와 최근 작업 기록이 프로젝트에 남습니다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C139738-5B66-4963-8F5D-2957033A112A}"/>
              </a:ext>
            </a:extLst>
          </p:cNvPr>
          <p:cNvSpPr>
            <a:spLocks noGrp="1"/>
          </p:cNvSpPr>
          <p:nvPr/>
        </p:nvSpPr>
        <p:spPr>
          <a:xfrm>
            <a:off x="952500" y="56197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결과적으로 인수인계</a:t>
            </a:r>
            <a:r>
              <a:rPr lang="en-US" altLang="ko-KR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기존 기능 수정</a:t>
            </a:r>
            <a:r>
              <a:rPr lang="en-US" altLang="ko-KR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신규 기능 개발을 더 안전하게 자동화할 기반이 생깁니다</a:t>
            </a:r>
            <a:r>
              <a:rPr lang="en-US" altLang="ko-KR" sz="17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F3CDB52-0DA5-49FB-BB72-658F351EA258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2007558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4F9EF8B0-330C-4A0C-B5AD-AD4BCAAEA8B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6ECC450-4D28-418B-97F4-17E3942A8AD5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자동화에는 반드시 브레이크와 검토 절차가 있습니다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593936E-307D-4D24-8E2D-2396A3741323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09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C65E4B-332E-48E5-A28C-CB28973A669C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4381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2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빠르게 바꾸는 것보다</a:t>
            </a:r>
          </a:p>
          <a:p>
            <a:pPr algn="l">
              <a:defRPr sz="22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2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잘못 바꾸지 않는 것이 먼저입니다</a:t>
            </a:r>
            <a:r>
              <a:rPr lang="en-US" altLang="ko-KR" sz="22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5E0644-E77B-4646-9452-CBF7EB739F44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4381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는 </a:t>
            </a: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가 모르는 내용을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그럴듯하게 지어내지 않도록 쓰기 범위와</a:t>
            </a:r>
          </a:p>
          <a:p>
            <a:pPr algn="l">
              <a:defRPr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승인 상태를 분리합니다</a:t>
            </a:r>
            <a:r>
              <a:rPr lang="en-US" altLang="ko-KR" sz="16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4F4B371-58FE-4BFD-96D1-2546008E6426}"/>
              </a:ext>
            </a:extLst>
          </p:cNvPr>
          <p:cNvSpPr>
            <a:spLocks noGrp="1"/>
          </p:cNvSpPr>
          <p:nvPr/>
        </p:nvSpPr>
        <p:spPr>
          <a:xfrm>
            <a:off x="5695950" y="179070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E6026F-AE34-4364-BF99-4CE97E1197FC}"/>
              </a:ext>
            </a:extLst>
          </p:cNvPr>
          <p:cNvSpPr>
            <a:spLocks noGrp="1"/>
          </p:cNvSpPr>
          <p:nvPr/>
        </p:nvSpPr>
        <p:spPr>
          <a:xfrm>
            <a:off x="5695950" y="18573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✓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53F2149-9880-4326-9220-733B5C9D1BBD}"/>
              </a:ext>
            </a:extLst>
          </p:cNvPr>
          <p:cNvSpPr>
            <a:spLocks noGrp="1"/>
          </p:cNvSpPr>
          <p:nvPr/>
        </p:nvSpPr>
        <p:spPr>
          <a:xfrm>
            <a:off x="6324600" y="180975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기본은 읽기 전용 또는 미리보기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5708878-7B33-4DA3-BCCB-46D2FCC0B1A9}"/>
              </a:ext>
            </a:extLst>
          </p:cNvPr>
          <p:cNvSpPr>
            <a:spLocks noGrp="1"/>
          </p:cNvSpPr>
          <p:nvPr/>
        </p:nvSpPr>
        <p:spPr>
          <a:xfrm>
            <a:off x="5695950" y="257175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96D65BF-706E-4F6D-A039-F90BC852B3D8}"/>
              </a:ext>
            </a:extLst>
          </p:cNvPr>
          <p:cNvSpPr>
            <a:spLocks noGrp="1"/>
          </p:cNvSpPr>
          <p:nvPr/>
        </p:nvSpPr>
        <p:spPr>
          <a:xfrm>
            <a:off x="5695950" y="26384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✓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DA23B39-1F64-4E77-92BA-69700546E66F}"/>
              </a:ext>
            </a:extLst>
          </p:cNvPr>
          <p:cNvSpPr>
            <a:spLocks noGrp="1"/>
          </p:cNvSpPr>
          <p:nvPr/>
        </p:nvSpPr>
        <p:spPr>
          <a:xfrm>
            <a:off x="6324600" y="259080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실제 쓰기는 </a:t>
            </a:r>
            <a:r>
              <a:rPr lang="en-US" altLang="ko-KR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--write</a:t>
            </a:r>
            <a:r>
              <a:rPr lang="ko-KR" altLang="en-US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를 명시해야 함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86E16AF-D306-470E-8BDD-35539707BE74}"/>
              </a:ext>
            </a:extLst>
          </p:cNvPr>
          <p:cNvSpPr>
            <a:spLocks noGrp="1"/>
          </p:cNvSpPr>
          <p:nvPr/>
        </p:nvSpPr>
        <p:spPr>
          <a:xfrm>
            <a:off x="5695950" y="335280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82682C-8560-4FA4-9A24-469896404D6D}"/>
              </a:ext>
            </a:extLst>
          </p:cNvPr>
          <p:cNvSpPr>
            <a:spLocks noGrp="1"/>
          </p:cNvSpPr>
          <p:nvPr/>
        </p:nvSpPr>
        <p:spPr>
          <a:xfrm>
            <a:off x="5695950" y="34194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✓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BEC7B22-5DEB-45A8-875D-A57282A1E06C}"/>
              </a:ext>
            </a:extLst>
          </p:cNvPr>
          <p:cNvSpPr>
            <a:spLocks noGrp="1"/>
          </p:cNvSpPr>
          <p:nvPr/>
        </p:nvSpPr>
        <p:spPr>
          <a:xfrm>
            <a:off x="6324600" y="337185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민감정보는 기록하거나 노출하지 않음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EB39138-91C4-4934-9891-679C621CFD18}"/>
              </a:ext>
            </a:extLst>
          </p:cNvPr>
          <p:cNvSpPr>
            <a:spLocks noGrp="1"/>
          </p:cNvSpPr>
          <p:nvPr/>
        </p:nvSpPr>
        <p:spPr>
          <a:xfrm>
            <a:off x="5695950" y="413385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D78FCE9-E0B6-438D-B2C2-8225351DEC69}"/>
              </a:ext>
            </a:extLst>
          </p:cNvPr>
          <p:cNvSpPr>
            <a:spLocks noGrp="1"/>
          </p:cNvSpPr>
          <p:nvPr/>
        </p:nvSpPr>
        <p:spPr>
          <a:xfrm>
            <a:off x="5695950" y="42005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✓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2659CD-6C2B-4456-9E19-FB33E5C5DB8A}"/>
              </a:ext>
            </a:extLst>
          </p:cNvPr>
          <p:cNvSpPr>
            <a:spLocks noGrp="1"/>
          </p:cNvSpPr>
          <p:nvPr/>
        </p:nvSpPr>
        <p:spPr>
          <a:xfrm>
            <a:off x="6324600" y="415290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725" b="0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변경 로그는 기존 기록을 지우지 않음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97CB781-3B49-4AF7-AF01-E0FF2B374DE3}"/>
              </a:ext>
            </a:extLst>
          </p:cNvPr>
          <p:cNvSpPr>
            <a:spLocks noGrp="1"/>
          </p:cNvSpPr>
          <p:nvPr/>
        </p:nvSpPr>
        <p:spPr>
          <a:xfrm>
            <a:off x="5695950" y="4914900"/>
            <a:ext cx="400050" cy="400050"/>
          </a:xfrm>
          <a:prstGeom prst="ellipse">
            <a:avLst/>
          </a:prstGeom>
          <a:solidFill>
            <a:srgbClr val="198754"/>
          </a:solidFill>
          <a:ln w="952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B8A52A9-16E2-4DCA-ADF9-5D139E73E8CF}"/>
              </a:ext>
            </a:extLst>
          </p:cNvPr>
          <p:cNvSpPr>
            <a:spLocks noGrp="1"/>
          </p:cNvSpPr>
          <p:nvPr/>
        </p:nvSpPr>
        <p:spPr>
          <a:xfrm>
            <a:off x="5695950" y="49815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✓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3CE798-6C92-4983-BBBE-74028FC2528D}"/>
              </a:ext>
            </a:extLst>
          </p:cNvPr>
          <p:cNvSpPr>
            <a:spLocks noGrp="1"/>
          </p:cNvSpPr>
          <p:nvPr/>
        </p:nvSpPr>
        <p:spPr>
          <a:xfrm>
            <a:off x="6324600" y="493395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020"/>
          </a:bodyPr>
          <a:lstStyle/>
          <a:p>
            <a:pPr algn="l">
              <a:defRPr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AI </a:t>
            </a:r>
            <a:r>
              <a:rPr lang="ko-KR" altLang="en-US"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수정 문서는 </a:t>
            </a:r>
            <a:r>
              <a:rPr lang="en-US"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needs_review → </a:t>
            </a:r>
            <a:r>
              <a:rPr lang="ko-KR" altLang="en-US"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사람 승인 후 </a:t>
            </a:r>
            <a:r>
              <a:rPr lang="en-US" sz="1725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verified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BE61BE2-94A5-423A-B152-19F6FA9421C1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280692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0958BA-1905-45A5-8C34-A3CCE237DEC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78384C7-B16A-4E1D-B257-E6E68F4B4C33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592"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완전 자동화의 기반은 갖췄지만 사람의 판단은 여전히 중요합니다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E6B4BDC-6C83-4771-9772-0B1655F37A90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10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C844A91-9AD4-4603-9D4D-B909F5BA4EF8}"/>
              </a:ext>
            </a:extLst>
          </p:cNvPr>
          <p:cNvSpPr>
            <a:spLocks noGrp="1"/>
          </p:cNvSpPr>
          <p:nvPr/>
        </p:nvSpPr>
        <p:spPr>
          <a:xfrm>
            <a:off x="400050" y="1924050"/>
            <a:ext cx="3429000" cy="3333750"/>
          </a:xfrm>
          <a:prstGeom prst="roundRect">
            <a:avLst>
              <a:gd name="adj" fmla="val 3429"/>
            </a:avLst>
          </a:prstGeom>
          <a:solidFill>
            <a:srgbClr val="E9F7EF"/>
          </a:solidFill>
          <a:ln w="9525">
            <a:solidFill>
              <a:srgbClr val="B8E0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2C9A84-DD9D-4F1D-8CBD-3C198EC306ED}"/>
              </a:ext>
            </a:extLst>
          </p:cNvPr>
          <p:cNvSpPr>
            <a:spLocks noGrp="1"/>
          </p:cNvSpPr>
          <p:nvPr/>
        </p:nvSpPr>
        <p:spPr>
          <a:xfrm>
            <a:off x="666750" y="2171700"/>
            <a:ext cx="2933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98754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100" b="1">
                <a:solidFill>
                  <a:srgbClr val="198754"/>
                </a:solidFill>
                <a:latin typeface="에스코어 드림 5 Medium"/>
                <a:ea typeface="에스코어 드림 5 Medium"/>
                <a:cs typeface="에스코어 드림 5 Medium"/>
              </a:rPr>
              <a:t>현재 가능한 것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96ED82-6084-477D-A561-14C25E5EC1E7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28956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위키 초기 구조 생성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문서·근거·링크 검증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지식 그래프·헬스 스코어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안전한 자동수정·마이그레이션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프로그래매틱 API · CI 검사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0994913-D327-43DA-9B57-F52289F38DBB}"/>
              </a:ext>
            </a:extLst>
          </p:cNvPr>
          <p:cNvSpPr>
            <a:spLocks noGrp="1"/>
          </p:cNvSpPr>
          <p:nvPr/>
        </p:nvSpPr>
        <p:spPr>
          <a:xfrm>
            <a:off x="4381500" y="1924050"/>
            <a:ext cx="3429000" cy="3333750"/>
          </a:xfrm>
          <a:prstGeom prst="roundRect">
            <a:avLst>
              <a:gd name="adj" fmla="val 3429"/>
            </a:avLst>
          </a:prstGeom>
          <a:solidFill>
            <a:srgbClr val="FFF6D8"/>
          </a:solidFill>
          <a:ln w="9525">
            <a:solidFill>
              <a:srgbClr val="F3DB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ACCA05-5CFE-40DA-A89C-3EFFA29F6688}"/>
              </a:ext>
            </a:extLst>
          </p:cNvPr>
          <p:cNvSpPr>
            <a:spLocks noGrp="1"/>
          </p:cNvSpPr>
          <p:nvPr/>
        </p:nvSpPr>
        <p:spPr>
          <a:xfrm>
            <a:off x="4648200" y="2171700"/>
            <a:ext cx="2933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A86C00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100" b="1">
                <a:solidFill>
                  <a:srgbClr val="A86C00"/>
                </a:solidFill>
                <a:latin typeface="에스코어 드림 5 Medium"/>
                <a:ea typeface="에스코어 드림 5 Medium"/>
                <a:cs typeface="에스코어 드림 5 Medium"/>
              </a:rPr>
              <a:t>사람이 맡는 것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E38DD6-BC1C-43C1-8088-C4B05DC6CA49}"/>
              </a:ext>
            </a:extLst>
          </p:cNvPr>
          <p:cNvSpPr>
            <a:spLocks noGrp="1"/>
          </p:cNvSpPr>
          <p:nvPr/>
        </p:nvSpPr>
        <p:spPr>
          <a:xfrm>
            <a:off x="4648200" y="2724150"/>
            <a:ext cx="28956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중요한 설계 결정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문서 내용의 최종 확인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verified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승인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자동화 범위 결정</a:t>
            </a:r>
          </a:p>
          <a:p>
            <a:pPr algn="l">
              <a:defRPr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• </a:t>
            </a:r>
            <a:r>
              <a:rPr lang="ko-KR" altLang="en-US" sz="150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예상 밖 상황의 판단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8BD48EB-6AA3-421F-829A-61662650E4E0}"/>
              </a:ext>
            </a:extLst>
          </p:cNvPr>
          <p:cNvSpPr>
            <a:spLocks noGrp="1"/>
          </p:cNvSpPr>
          <p:nvPr/>
        </p:nvSpPr>
        <p:spPr>
          <a:xfrm>
            <a:off x="8362950" y="1924050"/>
            <a:ext cx="3429000" cy="3333750"/>
          </a:xfrm>
          <a:prstGeom prst="roundRect">
            <a:avLst>
              <a:gd name="adj" fmla="val 3429"/>
            </a:avLst>
          </a:prstGeom>
          <a:solidFill>
            <a:srgbClr val="EAF2FF"/>
          </a:solidFill>
          <a:ln w="9525">
            <a:solidFill>
              <a:srgbClr val="BFD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A2B2C5-736B-4E93-A36C-B820AFFFC206}"/>
              </a:ext>
            </a:extLst>
          </p:cNvPr>
          <p:cNvSpPr>
            <a:spLocks noGrp="1"/>
          </p:cNvSpPr>
          <p:nvPr/>
        </p:nvSpPr>
        <p:spPr>
          <a:xfrm>
            <a:off x="8629650" y="2171700"/>
            <a:ext cx="2933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1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우리가 향하는 곳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CD2427-1A9A-4329-892A-2A649B19B4B0}"/>
              </a:ext>
            </a:extLst>
          </p:cNvPr>
          <p:cNvSpPr>
            <a:spLocks noGrp="1"/>
          </p:cNvSpPr>
          <p:nvPr/>
        </p:nvSpPr>
        <p:spPr>
          <a:xfrm>
            <a:off x="8629650" y="2724150"/>
            <a:ext cx="28956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목적을 말하면 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가 관련 지식을 찾고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, 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안전한 범위에서 구현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검증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·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문서화를 반복하는 작업 환경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19EDE8-9CB4-4C13-9090-03CDC59AF700}"/>
              </a:ext>
            </a:extLst>
          </p:cNvPr>
          <p:cNvSpPr>
            <a:spLocks noGrp="1"/>
          </p:cNvSpPr>
          <p:nvPr/>
        </p:nvSpPr>
        <p:spPr>
          <a:xfrm>
            <a:off x="1714500" y="56769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현재 위치</a:t>
            </a:r>
            <a:r>
              <a:rPr lang="en-US" altLang="ko-KR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: ‘</a:t>
            </a:r>
            <a:r>
              <a:rPr lang="ko-KR" altLang="en-US" sz="187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지도와 교통법규가 갖춰진 자동운전 기반’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D7065B-DC54-42AB-B1CC-05DD9900677D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816278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8B56F01-11CB-45C3-A80E-84689FA0DF4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D06A99-0AC9-490C-A98E-07DBF335A7DC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34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팀은 네 단계만 기억하면 됩니다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EA1835-074C-44CD-AECC-606AD36EEC6F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11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A783CAA-05EF-4059-8E67-84EB21D3E06C}"/>
              </a:ext>
            </a:extLst>
          </p:cNvPr>
          <p:cNvSpPr>
            <a:spLocks noGrp="1"/>
          </p:cNvSpPr>
          <p:nvPr/>
        </p:nvSpPr>
        <p:spPr>
          <a:xfrm>
            <a:off x="571500" y="1733550"/>
            <a:ext cx="609600" cy="60960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F3961E-086E-46D0-ABEA-EA3EFD588D5E}"/>
              </a:ext>
            </a:extLst>
          </p:cNvPr>
          <p:cNvSpPr>
            <a:spLocks noGrp="1"/>
          </p:cNvSpPr>
          <p:nvPr/>
        </p:nvSpPr>
        <p:spPr>
          <a:xfrm>
            <a:off x="571500" y="1924192"/>
            <a:ext cx="609600" cy="267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1" dirty="0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414D70-12C4-4023-8483-C79D0F14608E}"/>
              </a:ext>
            </a:extLst>
          </p:cNvPr>
          <p:cNvSpPr>
            <a:spLocks noGrp="1"/>
          </p:cNvSpPr>
          <p:nvPr/>
        </p:nvSpPr>
        <p:spPr>
          <a:xfrm>
            <a:off x="1504950" y="171450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항상 </a:t>
            </a:r>
            <a:r>
              <a:rPr lang="en-US" altLang="ko-KR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index.md</a:t>
            </a: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에서 시작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E4E0E3-A99D-4143-B601-0B9576305E12}"/>
              </a:ext>
            </a:extLst>
          </p:cNvPr>
          <p:cNvSpPr>
            <a:spLocks noGrp="1"/>
          </p:cNvSpPr>
          <p:nvPr/>
        </p:nvSpPr>
        <p:spPr>
          <a:xfrm>
            <a:off x="5619750" y="1733550"/>
            <a:ext cx="581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프로젝트 지식의 공식 입구를 하나로 통일합니다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876300" y="2400300"/>
            <a:ext cx="0" cy="342900"/>
          </a:xfrm>
          <a:prstGeom prst="straightConnector1">
            <a:avLst/>
          </a:prstGeom>
          <a:ln w="19050">
            <a:solidFill>
              <a:srgbClr val="DADCE0"/>
            </a:solidFill>
            <a:prstDash val="solid"/>
          </a:ln>
        </p:spPr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066ACBC1-FE7C-48AA-9DCB-6511520E3F76}"/>
              </a:ext>
            </a:extLst>
          </p:cNvPr>
          <p:cNvSpPr>
            <a:spLocks noGrp="1"/>
          </p:cNvSpPr>
          <p:nvPr/>
        </p:nvSpPr>
        <p:spPr>
          <a:xfrm>
            <a:off x="571500" y="2781300"/>
            <a:ext cx="609600" cy="60960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C344BF-399F-4E0E-B0CE-67E78C03AE02}"/>
              </a:ext>
            </a:extLst>
          </p:cNvPr>
          <p:cNvSpPr>
            <a:spLocks noGrp="1"/>
          </p:cNvSpPr>
          <p:nvPr/>
        </p:nvSpPr>
        <p:spPr>
          <a:xfrm>
            <a:off x="571500" y="2971942"/>
            <a:ext cx="609600" cy="267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76AC60E-3818-4DD2-AA2A-809BD055D3FB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설명보다 근거를 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A9511D-3157-485A-9CE0-97710E488CCF}"/>
              </a:ext>
            </a:extLst>
          </p:cNvPr>
          <p:cNvSpPr>
            <a:spLocks noGrp="1"/>
          </p:cNvSpPr>
          <p:nvPr/>
        </p:nvSpPr>
        <p:spPr>
          <a:xfrm>
            <a:off x="5619750" y="2781300"/>
            <a:ext cx="581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문서의 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source_files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와 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evidence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를 실제 코드와 대조합니다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cxnSp>
        <p:nvCxnSpPr>
          <p:cNvPr id="36" name="직선 화살표 연결선 35"/>
          <p:cNvCxnSpPr/>
          <p:nvPr/>
        </p:nvCxnSpPr>
        <p:spPr>
          <a:xfrm>
            <a:off x="876300" y="3448050"/>
            <a:ext cx="0" cy="342900"/>
          </a:xfrm>
          <a:prstGeom prst="straightConnector1">
            <a:avLst/>
          </a:prstGeom>
          <a:ln w="19050">
            <a:solidFill>
              <a:srgbClr val="DADCE0"/>
            </a:solidFill>
            <a:prstDash val="solid"/>
          </a:ln>
        </p:spPr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10EDA4C5-E48D-42F6-8627-63BCCF7D4B16}"/>
              </a:ext>
            </a:extLst>
          </p:cNvPr>
          <p:cNvSpPr>
            <a:spLocks noGrp="1"/>
          </p:cNvSpPr>
          <p:nvPr/>
        </p:nvSpPr>
        <p:spPr>
          <a:xfrm>
            <a:off x="571500" y="3829050"/>
            <a:ext cx="609600" cy="60960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7970CC-D970-4999-8704-9373BD8EEC86}"/>
              </a:ext>
            </a:extLst>
          </p:cNvPr>
          <p:cNvSpPr>
            <a:spLocks noGrp="1"/>
          </p:cNvSpPr>
          <p:nvPr/>
        </p:nvSpPr>
        <p:spPr>
          <a:xfrm>
            <a:off x="571500" y="4019692"/>
            <a:ext cx="609600" cy="267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AF24252-A158-4A4F-B5EB-47D8FDFB9546}"/>
              </a:ext>
            </a:extLst>
          </p:cNvPr>
          <p:cNvSpPr>
            <a:spLocks noGrp="1"/>
          </p:cNvSpPr>
          <p:nvPr/>
        </p:nvSpPr>
        <p:spPr>
          <a:xfrm>
            <a:off x="1504950" y="381000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코드와 위키를 함께 변경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6F2D7D7-9C66-4423-8A9E-16C6A905782C}"/>
              </a:ext>
            </a:extLst>
          </p:cNvPr>
          <p:cNvSpPr>
            <a:spLocks noGrp="1"/>
          </p:cNvSpPr>
          <p:nvPr/>
        </p:nvSpPr>
        <p:spPr>
          <a:xfrm>
            <a:off x="5619750" y="3829050"/>
            <a:ext cx="581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기능이 바뀌면 관련 설명과 변경 로그도 같은 작업에서 갱신합니다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876300" y="4495800"/>
            <a:ext cx="0" cy="342900"/>
          </a:xfrm>
          <a:prstGeom prst="straightConnector1">
            <a:avLst/>
          </a:prstGeom>
          <a:ln w="19050">
            <a:solidFill>
              <a:srgbClr val="DADCE0"/>
            </a:solidFill>
            <a:prstDash val="solid"/>
          </a:ln>
        </p:spPr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ACCEC513-8C8F-4C00-9E73-08B6D13F2D1C}"/>
              </a:ext>
            </a:extLst>
          </p:cNvPr>
          <p:cNvSpPr>
            <a:spLocks noGrp="1"/>
          </p:cNvSpPr>
          <p:nvPr/>
        </p:nvSpPr>
        <p:spPr>
          <a:xfrm>
            <a:off x="571500" y="4876800"/>
            <a:ext cx="609600" cy="60960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AB8B56-B291-4C41-B0D6-2D8B4D9DAE64}"/>
              </a:ext>
            </a:extLst>
          </p:cNvPr>
          <p:cNvSpPr>
            <a:spLocks noGrp="1"/>
          </p:cNvSpPr>
          <p:nvPr/>
        </p:nvSpPr>
        <p:spPr>
          <a:xfrm>
            <a:off x="571500" y="5067442"/>
            <a:ext cx="609600" cy="267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650" b="1">
                <a:solidFill>
                  <a:srgbClr val="FFFFFF"/>
                </a:solidFill>
                <a:latin typeface="에스코어 드림 5 Medium"/>
                <a:ea typeface="에스코어 드림 5 Medium"/>
                <a:cs typeface="에스코어 드림 5 Medium"/>
              </a:rPr>
              <a:t>4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A34BAF-9F07-4325-969D-73EC36FC7FAC}"/>
              </a:ext>
            </a:extLst>
          </p:cNvPr>
          <p:cNvSpPr>
            <a:spLocks noGrp="1"/>
          </p:cNvSpPr>
          <p:nvPr/>
        </p:nvSpPr>
        <p:spPr>
          <a:xfrm>
            <a:off x="1504950" y="485775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2025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사람이 마지막 도장을 찍기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FD73BD0-EB19-4246-BB9B-F9BFC5A7DFD6}"/>
              </a:ext>
            </a:extLst>
          </p:cNvPr>
          <p:cNvSpPr>
            <a:spLocks noGrp="1"/>
          </p:cNvSpPr>
          <p:nvPr/>
        </p:nvSpPr>
        <p:spPr>
          <a:xfrm>
            <a:off x="5619750" y="4876800"/>
            <a:ext cx="581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AI 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수정본은 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needs_review, 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확인이 끝나면 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verified</a:t>
            </a:r>
            <a:r>
              <a:rPr lang="ko-KR" altLang="en-US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로 승격합니다</a:t>
            </a:r>
            <a:r>
              <a:rPr lang="en-US" altLang="ko-KR" sz="1575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9B8427-04B9-411A-8925-20F6F1081FC4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팀 공유용 </a:t>
            </a:r>
            <a:r>
              <a:rPr lang="en-US" altLang="ko-KR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· </a:t>
            </a:r>
            <a:r>
              <a:rPr lang="ko-KR" altLang="en-US" sz="105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내부 자료</a:t>
            </a:r>
          </a:p>
        </p:txBody>
      </p:sp>
    </p:spTree>
    <p:extLst>
      <p:ext uri="{BB962C8B-B14F-4D97-AF65-F5344CB8AC3E}">
        <p14:creationId xmlns:p14="http://schemas.microsoft.com/office/powerpoint/2010/main" val="1242275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3199608-BD0E-40B3-A1C5-3A5498555A6B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500" b="1">
                <a:solidFill>
                  <a:srgbClr val="2563EB"/>
                </a:solidFill>
                <a:latin typeface="에스코어 드림 5 Medium"/>
                <a:ea typeface="에스코어 드림 5 Medium"/>
                <a:cs typeface="에스코어 드림 5 Medium"/>
              </a:rPr>
              <a:t>한 문장으로 정리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4C1318F-8B18-4568-BF06-0F67415030A2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0668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altLang="ko-KR"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AI</a:t>
            </a:r>
            <a:r>
              <a:rPr lang="ko-KR" altLang="en-US"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가 우리 프로젝트를 기억하고</a:t>
            </a:r>
            <a:r>
              <a:rPr lang="en-US" altLang="ko-KR"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,</a:t>
            </a:r>
          </a:p>
          <a:p>
            <a:pPr algn="l">
              <a:defRPr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같은 규칙으로 안전하게 일하게 합니다</a:t>
            </a:r>
            <a:r>
              <a:rPr lang="en-US" altLang="ko-KR" sz="46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.</a:t>
            </a:r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400050" y="4095750"/>
            <a:ext cx="1714500" cy="0"/>
          </a:xfrm>
          <a:prstGeom prst="straightConnector1">
            <a:avLst/>
          </a:prstGeom>
          <a:ln w="57150">
            <a:solidFill>
              <a:srgbClr val="2563EB"/>
            </a:solidFill>
            <a:prstDash val="solid"/>
          </a:ln>
        </p:spPr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19919D-9DDD-4D60-8BA3-9D34B1CAE308}"/>
              </a:ext>
            </a:extLst>
          </p:cNvPr>
          <p:cNvSpPr>
            <a:spLocks noGrp="1"/>
          </p:cNvSpPr>
          <p:nvPr/>
        </p:nvSpPr>
        <p:spPr>
          <a:xfrm>
            <a:off x="400050" y="46291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인수인계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727ABE1-2DD1-4156-9784-0E9315301D47}"/>
              </a:ext>
            </a:extLst>
          </p:cNvPr>
          <p:cNvSpPr>
            <a:spLocks noGrp="1"/>
          </p:cNvSpPr>
          <p:nvPr/>
        </p:nvSpPr>
        <p:spPr>
          <a:xfrm>
            <a:off x="3276600" y="46291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기존 기능 수정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00B12F-5E1F-4333-9BE6-5CF064AA82E3}"/>
              </a:ext>
            </a:extLst>
          </p:cNvPr>
          <p:cNvSpPr>
            <a:spLocks noGrp="1"/>
          </p:cNvSpPr>
          <p:nvPr/>
        </p:nvSpPr>
        <p:spPr>
          <a:xfrm>
            <a:off x="6629400" y="46291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950" b="1">
                <a:solidFill>
                  <a:srgbClr val="111111"/>
                </a:solidFill>
                <a:latin typeface="에스코어 드림 5 Medium"/>
                <a:ea typeface="에스코어 드림 5 Medium"/>
                <a:cs typeface="에스코어 드림 5 Medium"/>
              </a:rPr>
              <a:t>신규 기능 개발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982B40-31ED-4C26-964F-9473110763F2}"/>
              </a:ext>
            </a:extLst>
          </p:cNvPr>
          <p:cNvSpPr>
            <a:spLocks noGrp="1"/>
          </p:cNvSpPr>
          <p:nvPr/>
        </p:nvSpPr>
        <p:spPr>
          <a:xfrm>
            <a:off x="400050" y="51816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더 빠른 이해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A756B63-CA6B-4C8E-996B-DAA83F777824}"/>
              </a:ext>
            </a:extLst>
          </p:cNvPr>
          <p:cNvSpPr>
            <a:spLocks noGrp="1"/>
          </p:cNvSpPr>
          <p:nvPr/>
        </p:nvSpPr>
        <p:spPr>
          <a:xfrm>
            <a:off x="3276600" y="51816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더 적은 규칙 누락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F96840-EEC7-4752-B370-522709E1012D}"/>
              </a:ext>
            </a:extLst>
          </p:cNvPr>
          <p:cNvSpPr>
            <a:spLocks noGrp="1"/>
          </p:cNvSpPr>
          <p:nvPr/>
        </p:nvSpPr>
        <p:spPr>
          <a:xfrm>
            <a:off x="6629400" y="51816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ko-KR" altLang="en-US" sz="1350" b="0">
                <a:solidFill>
                  <a:srgbClr val="5F6368"/>
                </a:solidFill>
                <a:latin typeface="에스코어 드림 5 Medium"/>
                <a:ea typeface="에스코어 드림 5 Medium"/>
                <a:cs typeface="에스코어 드림 5 Medium"/>
              </a:rPr>
              <a:t>더 안전한 자동화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63645D-0CBB-48F9-B583-3AAF30C064DD}"/>
              </a:ext>
            </a:extLst>
          </p:cNvPr>
          <p:cNvSpPr>
            <a:spLocks noGrp="1"/>
          </p:cNvSpPr>
          <p:nvPr/>
        </p:nvSpPr>
        <p:spPr>
          <a:xfrm>
            <a:off x="400050" y="6096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defRPr>
            </a:pPr>
            <a:r>
              <a:rPr lang="en-US" sz="1200" b="0">
                <a:solidFill>
                  <a:srgbClr val="8A8D91"/>
                </a:solidFill>
                <a:latin typeface="에스코어 드림 5 Medium"/>
                <a:ea typeface="에스코어 드림 5 Medium"/>
                <a:cs typeface="에스코어 드림 5 Medium"/>
              </a:rPr>
              <a:t>LLM-WIKI 1.5.1</a:t>
            </a:r>
          </a:p>
        </p:txBody>
      </p:sp>
    </p:spTree>
    <p:extLst>
      <p:ext uri="{BB962C8B-B14F-4D97-AF65-F5344CB8AC3E}">
        <p14:creationId xmlns:p14="http://schemas.microsoft.com/office/powerpoint/2010/main" val="9432024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에스코어 드림 5 Medium"/>
        <a:ea typeface="에스코어 드림 5 Medium"/>
        <a:cs typeface="에스코어 드림 5 Medium"/>
      </a:majorFont>
      <a:minorFont>
        <a:latin typeface="에스코어 드림 5 Medium"/>
        <a:ea typeface="에스코어 드림 5 Medium"/>
        <a:cs typeface="에스코어 드림 5 Medium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에스코어 드림 5 Medium"/>
        <a:ea typeface="에스코어 드림 5 Medium"/>
        <a:cs typeface="에스코어 드림 5 Medium"/>
      </a:majorFont>
      <a:minorFont>
        <a:latin typeface="에스코어 드림 5 Medium"/>
        <a:ea typeface="에스코어 드림 5 Medium"/>
        <a:cs typeface="에스코어 드림 5 Medium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</Words>
  <Application>Microsoft Office PowerPoint</Application>
  <DocSecurity>0</DocSecurity>
  <PresentationFormat>와이드스크린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4" baseType="lpstr">
      <vt:lpstr>에스코어 드림 5 Medium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김도원 Dowon Kim</cp:lastModifiedBy>
  <cp:revision>2</cp:revision>
  <dcterms:created xsi:type="dcterms:W3CDTF">2026-07-13T08:52:42Z</dcterms:created>
  <dcterms:modified xsi:type="dcterms:W3CDTF">2026-07-13T09:05:28Z</dcterms:modified>
</cp:coreProperties>
</file>